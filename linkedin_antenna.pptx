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21"/>
    <p:sldId id="257" r:id="rId3"/>
    <p:sldId id="258" r:id="rId4"/>
    <p:sldId id="259" r:id="rId5"/>
    <p:sldId id="266" r:id="rId17"/>
    <p:sldId id="271" r:id="rId22"/>
    <p:sldId id="260" r:id="rId6"/>
    <p:sldId id="267" r:id="rId18"/>
    <p:sldId id="261" r:id="rId7"/>
    <p:sldId id="268" r:id="rId19"/>
    <p:sldId id="269" r:id="rId20"/>
    <p:sldId id="272" r:id="rId23"/>
    <p:sldId id="273" r:id="rId24"/>
    <p:sldId id="274" r:id="rId25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its core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existing solutions are insufficient for small-scale or educational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component — voice → ESP32 → relay → antenna.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signal and control flow from voice input to antenna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S11 = −19.89 dB as excellent matching. VSWR of 1.22 is near-ideal. Gain of 3.2 dB confirms directionality.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protocols: Bluetooth (voice), SPI (NRF24L01), I2C (OLED), GPIO (relay/LEDs).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prototype photos in the LinkedIn post comments.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architecture is scalable — same concept can extend to more antennas, 5G,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future scope to current trends: 5G, AI, smart buildings — shows the project has real growth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your LinkedIn profile in comments. Use the hashtags for maximum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NEW1" Type="http://schemas.openxmlformats.org/officeDocument/2006/relationships/image" Target="../media/new-workflow.jp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HFSS" Type="http://schemas.openxmlformats.org/officeDocument/2006/relationships/image" Target="../media/new-hfssmodel.jpg"/><Relationship Id="rIdS11" Type="http://schemas.openxmlformats.org/officeDocument/2006/relationships/image" Target="../media/new-s11.jpg"/><Relationship Id="rIdVSWR" Type="http://schemas.openxmlformats.org/officeDocument/2006/relationships/image" Target="../media/new-vswr.jpg"/><Relationship Id="rIdRAD" Type="http://schemas.openxmlformats.org/officeDocument/2006/relationships/image" Target="../media/new-radpattern.jpg"/><Relationship Id="rIdGAIN" Type="http://schemas.openxmlformats.org/officeDocument/2006/relationships/image" Target="../media/new-gainplot.jpg"/><Relationship Id="rIdEFIELD" Type="http://schemas.openxmlformats.org/officeDocument/2006/relationships/image" Target="../media/new-efield.jp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WIRING" Type="http://schemas.openxmlformats.org/officeDocument/2006/relationships/image" Target="../media/new-wiring.jpg"/><Relationship Id="rIdPHOTOLEFT" Type="http://schemas.openxmlformats.org/officeDocument/2006/relationships/image" Target="../media/new-photo-left.jpg"/><Relationship Id="rIdPHOTOCENTER" Type="http://schemas.openxmlformats.org/officeDocument/2006/relationships/image" Target="../media/new-photo-center.jpg"/><Relationship Id="rIdPHOTORIGHT" Type="http://schemas.openxmlformats.org/officeDocument/2006/relationships/image" Target="../media/new-photo-right.jpg"/></Relationships>
</file>

<file path=ppt/slides/_rels/slide14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Relationship Id="rIdDECISION" Type="http://schemas.openxmlformats.org/officeDocument/2006/relationships/image" Target="../media/new-decisionflow.jpg"/></Relationships>
</file>

<file path=ppt/slides/_rels/slide15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411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CONTROLLED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0" y="8686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Reconfigurable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WLAN Antenna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0" y="251460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0" y="3840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Smart. Low-Cost. Voice-Driven.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17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Radiation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antennas broadcast in all directions, wasting signal power and causing interference in unwanted areas.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Solutions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3756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array antennas and beamforming are accurate but extremely costly, complex, and out of reach for low-budget projects.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173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Smart Control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1792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directional systems require manual operation — there is no intuitive, hands-free way to control signal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voice-controlled antenna system that dynamically switches radiation direction using Bluetooth and relay-based switching — no expensive RF hardware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116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880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Commands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LEFT, RIGHT or CENTER via mobile 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82880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01168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880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Controller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56032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Bluetooth commands in real-time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7720" y="182880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01168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880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Switching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0916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RF signal to selected patch antenna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182880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201168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880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Antennas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800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FR4 microstrip antennas at 2.4 GHz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581912" cy="3566160"/>
          </a:xfrm>
          <a:prstGeom prst="roundRect">
            <a:avLst>
              <a:gd name="adj" fmla="val 578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192024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Command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2423160"/>
            <a:ext cx="14356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 LEFT, RIGHT or CENTER into mobile app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65176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47672" y="1188720"/>
            <a:ext cx="1581912" cy="3566160"/>
          </a:xfrm>
          <a:prstGeom prst="roundRect">
            <a:avLst>
              <a:gd name="adj" fmla="val 578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39112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020824" y="192024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TX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20824" y="2423160"/>
            <a:ext cx="14356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converts speech-to-text and sends via Bluetooth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265176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12464" y="1188720"/>
            <a:ext cx="1581912" cy="3566160"/>
          </a:xfrm>
          <a:prstGeom prst="roundRect">
            <a:avLst>
              <a:gd name="adj" fmla="val 578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803904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785616" y="192024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Processes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85616" y="2423160"/>
            <a:ext cx="14356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receives and interprets the command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2651760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77256" y="1188720"/>
            <a:ext cx="1581912" cy="3566160"/>
          </a:xfrm>
          <a:prstGeom prst="roundRect">
            <a:avLst>
              <a:gd name="adj" fmla="val 578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568696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5550408" y="192024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Switches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550408" y="2423160"/>
            <a:ext cx="14356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drives relay ON/OFF to select active antenna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651760"/>
            <a:ext cx="182880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42048" y="1188720"/>
            <a:ext cx="1581912" cy="3566160"/>
          </a:xfrm>
          <a:prstGeom prst="roundRect">
            <a:avLst>
              <a:gd name="adj" fmla="val 578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33488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7315200" y="192024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Antenna Active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0" y="2423160"/>
            <a:ext cx="14356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 transmitted through selected patch antenna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Antenna Design &amp;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Parameters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417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 GHz (WLAN band)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9293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Array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441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 (dual-element)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9535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Inset-fed microstrip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4655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(50 Ω matched)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977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HFSS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−19.89dB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Loss (S₁₁)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00584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1.2253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0" y="1874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VSWR at 2.40 GHz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3017520"/>
            <a:ext cx="3017520" cy="1691640"/>
          </a:xfrm>
          <a:prstGeom prst="roundRect">
            <a:avLst>
              <a:gd name="adj" fmla="val 648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52160" y="31089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3.2 dB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852160" y="3749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6634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TM₁₀ mode confirmed via E-field distribution  |  Broadside radiation pattern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6192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75564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+ Wi-Fi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36192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60520" y="13533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60520" y="175564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8076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3619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3533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Module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040880" y="175564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Electromechanical switch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30175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64992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1821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NRF24L01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80160" y="358444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RF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module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30175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64992"/>
            <a:ext cx="6858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60520" y="31821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OLED Display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160520" y="358444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I2C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feedback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80760" y="30175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64992"/>
            <a:ext cx="685800" cy="685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31821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IDE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040880" y="358444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C++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143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Mode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1 ON → Antenna 1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directed left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1430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874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Mode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3317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2 ON → Antenna 2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directed right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0058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025E7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1430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874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 Mode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26480" y="23317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relays toggle via timer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coverage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3383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antenna switching verified for all three voice commands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confirmed correct mode after every command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instability or unintended state changes during repeated tests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electromechanical delay noted — addressable with PIN diode switching in future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0472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07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WLAN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4440" y="170992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Wi-Fi signal toward active conference rooms or zones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490472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1307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IoT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14800" y="170992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links between wireless sensors and controllers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8076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90472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1307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995160" y="170992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signal to active rooms for better smart device coverage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319272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136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Comms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4440" y="353872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signal leakage in defense and surveillance environments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319272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4800" y="3136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Networks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114800" y="353872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WSN data transmission, saving energy and reducing interference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8076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319272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3136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Future: 5G/AI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995160" y="353872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toward 5G mmWave, massive MIMO, and AI-driven beam control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149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01498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Diode / RF MEMS Switch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101498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mechanical relay with solid-state switching to eliminate latency and increase reliability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0A2F5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196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8196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 Beam Steering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181965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circular antenna arrays enabling full angular coverage and precise sector selection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6243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Auto Beam Selection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2624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that auto-select the optimal antenna based on real-time signal quality metrics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0A2F5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/ Millimeter Wave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3429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architecture to 5G mmWave frequencies and massive MIMO configurations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78808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33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2336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Mobile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42336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 with signal strength visualization, manual override, and cloud monitoring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5486400" y="27432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Controlled Pattern Reconfigurable WLAN Antenna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that smart, directional wireless communication doesn't need expensive hardware.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2377440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514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low-cost approach to directional wireless communication — combining voice control, embedded systems, and antenna design into one seamless system.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#WLANAntenna  #EmbeddedSystems  #IoT  #ESP32  #VoiceControl  #AntenaDesign  #Wireless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ubtitle"/>
          <p:cNvSpPr/>
          <p:nvPr/>
        </p:nvSpPr>
        <p:spPr>
          <a:xfrm>
            <a:off x="457200" y="93218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spoken command to directional RF transmission — a fully embedded, closed-loop control chain</a:t>
            </a:r>
            <a:endParaRPr lang="en-US" sz="1300" dirty="0"/>
          </a:p>
        </p:txBody>
      </p:sp>
      <p:sp>
        <p:nvSpPr>
          <p:cNvPr id="5" name="ImageCard"/>
          <p:cNvSpPr/>
          <p:nvPr/>
        </p:nvSpPr>
        <p:spPr>
          <a:xfrm>
            <a:off x="357200" y="1360000"/>
            <a:ext cx="8429600" cy="3286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Workflow Image" descr="preencoded.png"/>
          <p:cNvPicPr>
            <a:picLocks noChangeAspect="1"/>
          </p:cNvPicPr>
          <p:nvPr/>
        </p:nvPicPr>
        <p:blipFill>
          <a:blip r:embed="rIdNEW1"/>
          <a:stretch>
            <a:fillRect/>
          </a:stretch>
        </p:blipFill>
        <p:spPr>
          <a:xfrm>
            <a:off x="507200" y="1510000"/>
            <a:ext cx="8129600" cy="2986900"/>
          </a:xfrm>
          <a:prstGeom prst="rect">
            <a:avLst/>
          </a:prstGeom>
        </p:spPr>
      </p:pic>
      <p:sp>
        <p:nvSpPr>
          <p:cNvPr id="7" name="Caption"/>
          <p:cNvSpPr/>
          <p:nvPr/>
        </p:nvSpPr>
        <p:spPr>
          <a:xfrm>
            <a:off x="457200" y="474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→ Bluetooth App → ESP32 Controller → Relay Switching → NRF24L01 → Selected Antenna → OLED Feedback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 — ANSYS HFSS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Card0"/>
          <p:cNvSpPr/>
          <p:nvPr/>
        </p:nvSpPr>
        <p:spPr>
          <a:xfrm>
            <a:off x="457200" y="950000"/>
            <a:ext cx="2643200" cy="188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Label0"/>
          <p:cNvSpPr/>
          <p:nvPr/>
        </p:nvSpPr>
        <p:spPr>
          <a:xfrm>
            <a:off x="517200" y="9900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ANTENNA MODEL</a:t>
            </a:r>
            <a:endParaRPr lang="en-US" sz="900" dirty="0"/>
          </a:p>
        </p:txBody>
      </p:sp>
      <p:sp>
        <p:nvSpPr>
          <p:cNvPr id="7" name="Card1"/>
          <p:cNvSpPr/>
          <p:nvPr/>
        </p:nvSpPr>
        <p:spPr>
          <a:xfrm>
            <a:off x="3250400" y="950000"/>
            <a:ext cx="2643200" cy="188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Label1"/>
          <p:cNvSpPr/>
          <p:nvPr/>
        </p:nvSpPr>
        <p:spPr>
          <a:xfrm>
            <a:off x="3310400" y="9900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LOSS (S11) — -19.89 dB</a:t>
            </a:r>
            <a:endParaRPr lang="en-US" sz="900" dirty="0"/>
          </a:p>
        </p:txBody>
      </p:sp>
      <p:sp>
        <p:nvSpPr>
          <p:cNvPr id="10" name="Card2"/>
          <p:cNvSpPr/>
          <p:nvPr/>
        </p:nvSpPr>
        <p:spPr>
          <a:xfrm>
            <a:off x="6043600" y="950000"/>
            <a:ext cx="2643200" cy="188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11" name="Label2"/>
          <p:cNvSpPr/>
          <p:nvPr/>
        </p:nvSpPr>
        <p:spPr>
          <a:xfrm>
            <a:off x="6103600" y="9900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VSWR — 1.2253 @ 2.40 GHz</a:t>
            </a:r>
            <a:endParaRPr lang="en-US" sz="900" dirty="0"/>
          </a:p>
        </p:txBody>
      </p:sp>
      <p:sp>
        <p:nvSpPr>
          <p:cNvPr id="13" name="Card3"/>
          <p:cNvSpPr/>
          <p:nvPr/>
        </p:nvSpPr>
        <p:spPr>
          <a:xfrm>
            <a:off x="457200" y="2984600"/>
            <a:ext cx="2643200" cy="188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14" name="Label3"/>
          <p:cNvSpPr/>
          <p:nvPr/>
        </p:nvSpPr>
        <p:spPr>
          <a:xfrm>
            <a:off x="517200" y="30246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RADIATION PATTERN</a:t>
            </a:r>
            <a:endParaRPr lang="en-US" sz="900" dirty="0"/>
          </a:p>
        </p:txBody>
      </p:sp>
      <p:sp>
        <p:nvSpPr>
          <p:cNvPr id="16" name="Card4"/>
          <p:cNvSpPr/>
          <p:nvPr/>
        </p:nvSpPr>
        <p:spPr>
          <a:xfrm>
            <a:off x="3250400" y="2984600"/>
            <a:ext cx="2643200" cy="188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17" name="Label4"/>
          <p:cNvSpPr/>
          <p:nvPr/>
        </p:nvSpPr>
        <p:spPr>
          <a:xfrm>
            <a:off x="3310400" y="30246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PLOT — ~3.2 dB PEAK</a:t>
            </a:r>
            <a:endParaRPr lang="en-US" sz="900" dirty="0"/>
          </a:p>
        </p:txBody>
      </p:sp>
      <p:sp>
        <p:nvSpPr>
          <p:cNvPr id="19" name="Card5"/>
          <p:cNvSpPr/>
          <p:nvPr/>
        </p:nvSpPr>
        <p:spPr>
          <a:xfrm>
            <a:off x="6043600" y="2984600"/>
            <a:ext cx="2643200" cy="188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20" name="Label5"/>
          <p:cNvSpPr/>
          <p:nvPr/>
        </p:nvSpPr>
        <p:spPr>
          <a:xfrm>
            <a:off x="6103600" y="30246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DISTRIBUTION</a:t>
            </a:r>
            <a:endParaRPr lang="en-US" sz="900" dirty="0"/>
          </a:p>
        </p:txBody>
      </p:sp>
      <p:pic>
        <p:nvPicPr>
          <p:cNvPr id="6" name="Img0" descr="preencoded.png"/>
          <p:cNvPicPr>
            <a:picLocks noChangeAspect="1"/>
          </p:cNvPicPr>
          <p:nvPr/>
        </p:nvPicPr>
        <p:blipFill>
          <a:blip r:embed="rIdHFSS"/>
          <a:stretch>
            <a:fillRect/>
          </a:stretch>
        </p:blipFill>
        <p:spPr>
          <a:xfrm>
            <a:off x="517200" y="1316019"/>
            <a:ext cx="2523200" cy="1392561"/>
          </a:xfrm>
          <a:prstGeom prst="rect">
            <a:avLst/>
          </a:prstGeom>
        </p:spPr>
      </p:pic>
      <p:pic>
        <p:nvPicPr>
          <p:cNvPr id="9" name="Img1" descr="preencoded.png"/>
          <p:cNvPicPr>
            <a:picLocks noChangeAspect="1"/>
          </p:cNvPicPr>
          <p:nvPr/>
        </p:nvPicPr>
        <p:blipFill>
          <a:blip r:embed="rIdS11"/>
          <a:stretch>
            <a:fillRect/>
          </a:stretch>
        </p:blipFill>
        <p:spPr>
          <a:xfrm>
            <a:off x="3310400" y="1442195"/>
            <a:ext cx="2523200" cy="1140208"/>
          </a:xfrm>
          <a:prstGeom prst="rect">
            <a:avLst/>
          </a:prstGeom>
        </p:spPr>
      </p:pic>
      <p:pic>
        <p:nvPicPr>
          <p:cNvPr id="12" name="Img2" descr="preencoded.png"/>
          <p:cNvPicPr>
            <a:picLocks noChangeAspect="1"/>
          </p:cNvPicPr>
          <p:nvPr/>
        </p:nvPicPr>
        <p:blipFill>
          <a:blip r:embed="rIdVSWR"/>
          <a:stretch>
            <a:fillRect/>
          </a:stretch>
        </p:blipFill>
        <p:spPr>
          <a:xfrm>
            <a:off x="6103600" y="1561590"/>
            <a:ext cx="2523200" cy="901418"/>
          </a:xfrm>
          <a:prstGeom prst="rect">
            <a:avLst/>
          </a:prstGeom>
        </p:spPr>
      </p:pic>
      <p:pic>
        <p:nvPicPr>
          <p:cNvPr id="15" name="Img3" descr="preencoded.png"/>
          <p:cNvPicPr>
            <a:picLocks noChangeAspect="1"/>
          </p:cNvPicPr>
          <p:nvPr/>
        </p:nvPicPr>
        <p:blipFill>
          <a:blip r:embed="rIdRAD"/>
          <a:stretch>
            <a:fillRect/>
          </a:stretch>
        </p:blipFill>
        <p:spPr>
          <a:xfrm>
            <a:off x="517200" y="3533076"/>
            <a:ext cx="2523200" cy="1027646"/>
          </a:xfrm>
          <a:prstGeom prst="rect">
            <a:avLst/>
          </a:prstGeom>
        </p:spPr>
      </p:pic>
      <p:pic>
        <p:nvPicPr>
          <p:cNvPr id="18" name="Img4" descr="preencoded.png"/>
          <p:cNvPicPr>
            <a:picLocks noChangeAspect="1"/>
          </p:cNvPicPr>
          <p:nvPr/>
        </p:nvPicPr>
        <p:blipFill>
          <a:blip r:embed="rIdGAIN"/>
          <a:stretch>
            <a:fillRect/>
          </a:stretch>
        </p:blipFill>
        <p:spPr>
          <a:xfrm>
            <a:off x="3310400" y="3602080"/>
            <a:ext cx="2523200" cy="889638"/>
          </a:xfrm>
          <a:prstGeom prst="rect">
            <a:avLst/>
          </a:prstGeom>
        </p:spPr>
      </p:pic>
      <p:pic>
        <p:nvPicPr>
          <p:cNvPr id="21" name="Img5" descr="preencoded.png"/>
          <p:cNvPicPr>
            <a:picLocks noChangeAspect="1"/>
          </p:cNvPicPr>
          <p:nvPr/>
        </p:nvPicPr>
        <p:blipFill>
          <a:blip r:embed="rIdEFIELD"/>
          <a:stretch>
            <a:fillRect/>
          </a:stretch>
        </p:blipFill>
        <p:spPr>
          <a:xfrm>
            <a:off x="6103600" y="3501443"/>
            <a:ext cx="2523200" cy="10909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Prototype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0" name="PCard0"/>
          <p:cNvSpPr/>
          <p:nvPr/>
        </p:nvSpPr>
        <p:spPr>
          <a:xfrm>
            <a:off x="457200" y="950000"/>
            <a:ext cx="8229600" cy="16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201" name="PLabel0"/>
          <p:cNvSpPr/>
          <p:nvPr/>
        </p:nvSpPr>
        <p:spPr>
          <a:xfrm>
            <a:off x="517200" y="985000"/>
            <a:ext cx="81096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WIRING DIAGRAM</a:t>
            </a:r>
            <a:endParaRPr lang="en-US" sz="900" dirty="0"/>
          </a:p>
        </p:txBody>
      </p:sp>
      <p:pic>
        <p:nvPicPr>
          <p:cNvPr id="202" name="PImg0" descr="preencoded.png"/>
          <p:cNvPicPr>
            <a:picLocks noChangeAspect="1"/>
          </p:cNvPicPr>
          <p:nvPr/>
        </p:nvPicPr>
        <p:blipFill>
          <a:blip r:embed="rIdWIRING"/>
          <a:stretch>
            <a:fillRect/>
          </a:stretch>
        </p:blipFill>
        <p:spPr>
          <a:xfrm>
            <a:off x="3482694" y="1245000"/>
            <a:ext cx="2178611" cy="1265000"/>
          </a:xfrm>
          <a:prstGeom prst="rect">
            <a:avLst/>
          </a:prstGeom>
        </p:spPr>
      </p:pic>
      <p:sp>
        <p:nvSpPr>
          <p:cNvPr id="203" name="PCard1"/>
          <p:cNvSpPr/>
          <p:nvPr/>
        </p:nvSpPr>
        <p:spPr>
          <a:xfrm>
            <a:off x="457200" y="2720000"/>
            <a:ext cx="2643200" cy="21491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204" name="PLabel1"/>
          <p:cNvSpPr/>
          <p:nvPr/>
        </p:nvSpPr>
        <p:spPr>
          <a:xfrm>
            <a:off x="517200" y="27550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MODE</a:t>
            </a:r>
            <a:endParaRPr lang="en-US" sz="900" dirty="0"/>
          </a:p>
        </p:txBody>
      </p:sp>
      <p:pic>
        <p:nvPicPr>
          <p:cNvPr id="205" name="PImg1" descr="preencoded.png"/>
          <p:cNvPicPr>
            <a:picLocks noChangeAspect="1"/>
          </p:cNvPicPr>
          <p:nvPr/>
        </p:nvPicPr>
        <p:blipFill>
          <a:blip r:embed="rIdPHOTOLEFT"/>
          <a:stretch>
            <a:fillRect/>
          </a:stretch>
        </p:blipFill>
        <p:spPr>
          <a:xfrm>
            <a:off x="1274186" y="3015000"/>
            <a:ext cx="1009226" cy="1794180"/>
          </a:xfrm>
          <a:prstGeom prst="rect">
            <a:avLst/>
          </a:prstGeom>
        </p:spPr>
      </p:pic>
      <p:sp>
        <p:nvSpPr>
          <p:cNvPr id="206" name="PCard2"/>
          <p:cNvSpPr/>
          <p:nvPr/>
        </p:nvSpPr>
        <p:spPr>
          <a:xfrm>
            <a:off x="3250400" y="2720000"/>
            <a:ext cx="2643200" cy="21491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207" name="PLabel2"/>
          <p:cNvSpPr/>
          <p:nvPr/>
        </p:nvSpPr>
        <p:spPr>
          <a:xfrm>
            <a:off x="3310400" y="27550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MODE</a:t>
            </a:r>
            <a:endParaRPr lang="en-US" sz="900" dirty="0"/>
          </a:p>
        </p:txBody>
      </p:sp>
      <p:pic>
        <p:nvPicPr>
          <p:cNvPr id="208" name="PImg2" descr="preencoded.png"/>
          <p:cNvPicPr>
            <a:picLocks noChangeAspect="1"/>
          </p:cNvPicPr>
          <p:nvPr/>
        </p:nvPicPr>
        <p:blipFill>
          <a:blip r:embed="rIdPHOTOCENTER"/>
          <a:stretch>
            <a:fillRect/>
          </a:stretch>
        </p:blipFill>
        <p:spPr>
          <a:xfrm>
            <a:off x="4067386" y="3015000"/>
            <a:ext cx="1009226" cy="1794180"/>
          </a:xfrm>
          <a:prstGeom prst="rect">
            <a:avLst/>
          </a:prstGeom>
        </p:spPr>
      </p:pic>
      <p:sp>
        <p:nvSpPr>
          <p:cNvPr id="209" name="PCard3"/>
          <p:cNvSpPr/>
          <p:nvPr/>
        </p:nvSpPr>
        <p:spPr>
          <a:xfrm>
            <a:off x="6043600" y="2720000"/>
            <a:ext cx="2643200" cy="21491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210" name="PLabel3"/>
          <p:cNvSpPr/>
          <p:nvPr/>
        </p:nvSpPr>
        <p:spPr>
          <a:xfrm>
            <a:off x="6103600" y="2755000"/>
            <a:ext cx="25232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</a:t>
            </a:r>
            <a:endParaRPr lang="en-US" sz="900" dirty="0"/>
          </a:p>
        </p:txBody>
      </p:sp>
      <p:pic>
        <p:nvPicPr>
          <p:cNvPr id="211" name="PImg3" descr="preencoded.png"/>
          <p:cNvPicPr>
            <a:picLocks noChangeAspect="1"/>
          </p:cNvPicPr>
          <p:nvPr/>
        </p:nvPicPr>
        <p:blipFill>
          <a:blip r:embed="rIdPHOTORIGHT"/>
          <a:stretch>
            <a:fillRect/>
          </a:stretch>
        </p:blipFill>
        <p:spPr>
          <a:xfrm>
            <a:off x="6373026" y="3015000"/>
            <a:ext cx="1984346" cy="17941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Snapshot</a:t>
            </a:r>
            <a:endParaRPr lang="en-US" sz="3200" dirty="0"/>
          </a:p>
        </p:txBody>
      </p:sp>
      <p:sp>
        <p:nvSpPr>
          <p:cNvPr id="101" name="FlowCard"/>
          <p:cNvSpPr/>
          <p:nvPr/>
        </p:nvSpPr>
        <p:spPr>
          <a:xfrm>
            <a:off x="457200" y="1180000"/>
            <a:ext cx="2800000" cy="3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2" name="FlowLabel"/>
          <p:cNvSpPr/>
          <p:nvPr/>
        </p:nvSpPr>
        <p:spPr>
          <a:xfrm>
            <a:off x="527200" y="1220000"/>
            <a:ext cx="266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FLOW</a:t>
            </a:r>
            <a:endParaRPr lang="en-US" sz="1100" dirty="0"/>
          </a:p>
        </p:txBody>
      </p:sp>
      <p:pic>
        <p:nvPicPr>
          <p:cNvPr id="103" name="FlowImg" descr="preencoded.png"/>
          <p:cNvPicPr>
            <a:picLocks noChangeAspect="1"/>
          </p:cNvPicPr>
          <p:nvPr/>
        </p:nvPicPr>
        <p:blipFill>
          <a:blip r:embed="rIdDECISION"/>
          <a:stretch>
            <a:fillRect/>
          </a:stretch>
        </p:blipFill>
        <p:spPr>
          <a:xfrm>
            <a:off x="595150" y="1500000"/>
            <a:ext cx="2524100" cy="3010000"/>
          </a:xfrm>
          <a:prstGeom prst="rect">
            <a:avLst/>
          </a:prstGeom>
        </p:spPr>
      </p:pic>
      <p:sp>
        <p:nvSpPr>
          <p:cNvPr id="110" name="CodeCard"/>
          <p:cNvSpPr/>
          <p:nvPr/>
        </p:nvSpPr>
        <p:spPr>
          <a:xfrm>
            <a:off x="3407200" y="1180000"/>
            <a:ext cx="5279600" cy="34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1" name="CodeLabel"/>
          <p:cNvSpPr/>
          <p:nvPr/>
        </p:nvSpPr>
        <p:spPr>
          <a:xfrm>
            <a:off x="3587200" y="1230000"/>
            <a:ext cx="49196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</a:rPr>
              <a:t>// main control loop — ESP32</a:t>
            </a:r>
            <a:endParaRPr lang="en-US" sz="1100" dirty="0"/>
          </a:p>
        </p:txBody>
      </p:sp>
      <p:sp>
        <p:nvSpPr>
          <p:cNvPr id="112" name="CodeBody"/>
          <p:cNvSpPr/>
          <p:nvPr/>
        </p:nvSpPr>
        <p:spPr>
          <a:xfrm>
            <a:off x="3587200" y="1520000"/>
            <a:ext cx="4919600" cy="3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if (cmd == "left") {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mode = "left";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showDisplay("LEFT");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else if (cmd == "right") {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mode = "right";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showDisplay("RIGHT");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else if (cmd == "center") {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mode = "center";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showDisplay("CENTER");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7BA7BC"/>
                </a:solidFill>
                <a:latin typeface="Consolas" pitchFamily="34" charset="0"/>
              </a:rPr>
              <a:t xml:space="preserve">// Drive relay + transmit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if (mode == "left") {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digitalWrite(RELAY1, HIGH);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digitalWrite(RELAY2, LOW);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  sendRF("LEFT");</a:t>
            </a:r>
          </a:p>
          <a:p>
            <a:pPr indent="0" marL="0">
              <a:buNone/>
              <a:lnSpc>
                <a:spcPct val="115000"/>
              </a:lnSpc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</p:txBody>
      </p:sp>
      <p:sp>
        <p:nvSpPr>
          <p:cNvPr id="120" name="Footer"/>
          <p:cNvSpPr/>
          <p:nvPr/>
        </p:nvSpPr>
        <p:spPr>
          <a:xfrm>
            <a:off x="457200" y="4610000"/>
            <a:ext cx="8229600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C++ on ESP32  ·  BluetoothSerial  ·  RF24 (NRF24L01)  ·  Adafruit SSD1306 OLED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00" name="Desc"/>
          <p:cNvSpPr/>
          <p:nvPr/>
        </p:nvSpPr>
        <p:spPr>
          <a:xfrm>
            <a:off x="457200" y="1180000"/>
            <a:ext cx="8229600" cy="17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30000"/>
              </a:lnSpc>
            </a:pPr>
            <a:r>
              <a:rPr lang="en-US" sz="15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low-cost, voice-controlled directional antenna system. A user speaks LEFT, RIGHT, or CENTER into a mobile app; the command travels over Bluetooth to an ESP32 microcontroller, which switches a relay to route a 2.40 GHz RF signal into one of two custom-built microstrip patch antennas — physically steering where the signal radiates strongest, without any costly phased-array or beamforming hardware. An OLED display confirms the active mode in real time, and the whole loop runs continuously off a battery-powered ESP32 platform.</a:t>
            </a:r>
            <a:endParaRPr lang="en-US" sz="1500" dirty="0"/>
          </a:p>
        </p:txBody>
      </p:sp>
      <p:sp>
        <p:nvSpPr>
          <p:cNvPr id="310" name="FactCard0"/>
          <p:cNvSpPr/>
          <p:nvPr/>
        </p:nvSpPr>
        <p:spPr>
          <a:xfrm>
            <a:off x="457200" y="3150000"/>
            <a:ext cx="1541920" cy="15800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311" name="FactText0"/>
          <p:cNvSpPr/>
          <p:nvPr/>
        </p:nvSpPr>
        <p:spPr>
          <a:xfrm>
            <a:off x="517200" y="3290000"/>
            <a:ext cx="1421920" cy="1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2.40 GHz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(WLAN / ISM)</a:t>
            </a:r>
          </a:p>
        </p:txBody>
      </p:sp>
      <p:sp>
        <p:nvSpPr>
          <p:cNvPr id="312" name="FactCard1"/>
          <p:cNvSpPr/>
          <p:nvPr/>
        </p:nvSpPr>
        <p:spPr>
          <a:xfrm>
            <a:off x="2129120" y="3150000"/>
            <a:ext cx="1541920" cy="15800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313" name="FactText1"/>
          <p:cNvSpPr/>
          <p:nvPr/>
        </p:nvSpPr>
        <p:spPr>
          <a:xfrm>
            <a:off x="2189120" y="3290000"/>
            <a:ext cx="1421920" cy="1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TYPE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Microstrip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(FR4)</a:t>
            </a:r>
          </a:p>
        </p:txBody>
      </p:sp>
      <p:sp>
        <p:nvSpPr>
          <p:cNvPr id="314" name="FactCard2"/>
          <p:cNvSpPr/>
          <p:nvPr/>
        </p:nvSpPr>
        <p:spPr>
          <a:xfrm>
            <a:off x="3801040" y="3150000"/>
            <a:ext cx="1541920" cy="15800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315" name="FactText2"/>
          <p:cNvSpPr/>
          <p:nvPr/>
        </p:nvSpPr>
        <p:spPr>
          <a:xfrm>
            <a:off x="3861040" y="3290000"/>
            <a:ext cx="1421920" cy="1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(Bluetooth)</a:t>
            </a:r>
          </a:p>
        </p:txBody>
      </p:sp>
      <p:sp>
        <p:nvSpPr>
          <p:cNvPr id="316" name="FactCard3"/>
          <p:cNvSpPr/>
          <p:nvPr/>
        </p:nvSpPr>
        <p:spPr>
          <a:xfrm>
            <a:off x="5472960" y="3150000"/>
            <a:ext cx="1541920" cy="15800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317" name="FactText3"/>
          <p:cNvSpPr/>
          <p:nvPr/>
        </p:nvSpPr>
        <p:spPr>
          <a:xfrm>
            <a:off x="5532960" y="3290000"/>
            <a:ext cx="1421920" cy="1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SPDT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</a:t>
            </a:r>
          </a:p>
        </p:txBody>
      </p:sp>
      <p:sp>
        <p:nvSpPr>
          <p:cNvPr id="318" name="FactCard4"/>
          <p:cNvSpPr/>
          <p:nvPr/>
        </p:nvSpPr>
        <p:spPr>
          <a:xfrm>
            <a:off x="7144880" y="3150000"/>
            <a:ext cx="1541920" cy="15800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76200" dist="25400" dir="2700000">
              <a:srgbClr val="000000">
                <a:alpha val="16000"/>
              </a:srgbClr>
            </a:outerShdw>
          </a:effectLst>
        </p:spPr>
      </p:sp>
      <p:sp>
        <p:nvSpPr>
          <p:cNvPr id="319" name="FactText4"/>
          <p:cNvSpPr/>
          <p:nvPr/>
        </p:nvSpPr>
        <p:spPr>
          <a:xfrm>
            <a:off x="7204880" y="3290000"/>
            <a:ext cx="1421920" cy="1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INPUT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→</a:t>
            </a:r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Speech-to-Text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Antenna Design Specifications</a:t>
            </a:r>
            <a:endParaRPr lang="en-US" sz="3200" dirty="0"/>
          </a:p>
        </p:txBody>
      </p:sp>
      <p:sp>
        <p:nvSpPr>
          <p:cNvPr id="400" name="DiagCard"/>
          <p:cNvSpPr/>
          <p:nvPr/>
        </p:nvSpPr>
        <p:spPr>
          <a:xfrm>
            <a:off x="457200" y="1180000"/>
            <a:ext cx="3300000" cy="37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1" name="DiagLabel"/>
          <p:cNvSpPr/>
          <p:nvPr/>
        </p:nvSpPr>
        <p:spPr>
          <a:xfrm>
            <a:off x="527200" y="1220000"/>
            <a:ext cx="316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</a:rPr>
              <a:t>PATCH ANTENNA — TOP VIEW</a:t>
            </a:r>
          </a:p>
        </p:txBody>
      </p:sp>
      <p:sp>
        <p:nvSpPr>
          <p:cNvPr id="402" name="GroundPlane"/>
          <p:cNvSpPr/>
          <p:nvPr/>
        </p:nvSpPr>
        <p:spPr>
          <a:xfrm>
            <a:off x="857200" y="1620000"/>
            <a:ext cx="2500000" cy="2500000"/>
          </a:xfrm>
          <a:prstGeom prst="rect">
            <a:avLst/>
          </a:prstGeom>
          <a:solidFill>
            <a:srgbClr val="D7DEC7"/>
          </a:solidFill>
          <a:ln w="12700">
            <a:solidFill>
              <a:srgbClr val="7BA7BC"/>
            </a:solidFill>
            <a:prstDash val="dash"/>
          </a:ln>
        </p:spPr>
      </p:sp>
      <p:sp>
        <p:nvSpPr>
          <p:cNvPr id="403" name="Patch"/>
          <p:cNvSpPr/>
          <p:nvPr/>
        </p:nvSpPr>
        <p:spPr>
          <a:xfrm>
            <a:off x="1315533" y="2265833"/>
            <a:ext cx="1583333" cy="1208333"/>
          </a:xfrm>
          <a:prstGeom prst="rect">
            <a:avLst/>
          </a:prstGeom>
          <a:solidFill>
            <a:srgbClr val="B87333"/>
          </a:solidFill>
          <a:ln w="6350">
            <a:solidFill>
              <a:srgbClr val="8B5A2B"/>
            </a:solidFill>
          </a:ln>
        </p:spPr>
      </p:sp>
      <p:sp>
        <p:nvSpPr>
          <p:cNvPr id="404" name="FeedStub"/>
          <p:cNvSpPr/>
          <p:nvPr/>
        </p:nvSpPr>
        <p:spPr>
          <a:xfrm>
            <a:off x="2077199" y="3474166"/>
            <a:ext cx="60000" cy="130000"/>
          </a:xfrm>
          <a:prstGeom prst="rect">
            <a:avLst/>
          </a:prstGeom>
          <a:solidFill>
            <a:srgbClr val="B87333"/>
          </a:solidFill>
          <a:ln w="6350">
            <a:solidFill>
              <a:srgbClr val="8B5A2B"/>
            </a:solidFill>
          </a:ln>
        </p:spPr>
      </p:sp>
      <p:sp>
        <p:nvSpPr>
          <p:cNvPr id="405" name="WLabel"/>
          <p:cNvSpPr/>
          <p:nvPr/>
        </p:nvSpPr>
        <p:spPr>
          <a:xfrm>
            <a:off x="1315533" y="2005833"/>
            <a:ext cx="1583333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</a:rPr>
              <a:t>W = 38 mm</a:t>
            </a:r>
          </a:p>
        </p:txBody>
      </p:sp>
      <p:sp>
        <p:nvSpPr>
          <p:cNvPr id="406" name="LLabel"/>
          <p:cNvSpPr/>
          <p:nvPr/>
        </p:nvSpPr>
        <p:spPr>
          <a:xfrm>
            <a:off x="2928866" y="2265833"/>
            <a:ext cx="700000" cy="1208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</a:rPr>
              <a:t>L = 29 mm</a:t>
            </a:r>
          </a:p>
        </p:txBody>
      </p:sp>
      <p:sp>
        <p:nvSpPr>
          <p:cNvPr id="407" name="GroundLabel"/>
          <p:cNvSpPr/>
          <p:nvPr/>
        </p:nvSpPr>
        <p:spPr>
          <a:xfrm>
            <a:off x="527200" y="4200000"/>
            <a:ext cx="3160000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</a:rPr>
              <a:t>Ground plane / FR4 substrate: 60 × 60 mm</a:t>
            </a:r>
          </a:p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</a:rPr>
              <a:t>SMA inset feed, 50 Ω matched</a:t>
            </a:r>
          </a:p>
        </p:txBody>
      </p:sp>
      <p:sp>
        <p:nvSpPr>
          <p:cNvPr id="410" name="TCard410"/>
          <p:cNvSpPr/>
          <p:nvPr/>
        </p:nvSpPr>
        <p:spPr>
          <a:xfrm>
            <a:off x="3907200" y="1180000"/>
            <a:ext cx="4779600" cy="19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11" name="TTitle410"/>
          <p:cNvSpPr/>
          <p:nvPr/>
        </p:nvSpPr>
        <p:spPr>
          <a:xfrm>
            <a:off x="4057200" y="1270000"/>
            <a:ext cx="447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</a:rPr>
              <a:t>Physical Dimensions</a:t>
            </a:r>
          </a:p>
        </p:txBody>
      </p:sp>
      <p:sp>
        <p:nvSpPr>
          <p:cNvPr id="412" name="K410_0"/>
          <p:cNvSpPr/>
          <p:nvPr/>
        </p:nvSpPr>
        <p:spPr>
          <a:xfrm>
            <a:off x="4057200" y="1590000"/>
            <a:ext cx="21000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Operating Frequency:</a:t>
            </a:r>
          </a:p>
        </p:txBody>
      </p:sp>
      <p:sp>
        <p:nvSpPr>
          <p:cNvPr id="413" name="V410_0"/>
          <p:cNvSpPr/>
          <p:nvPr/>
        </p:nvSpPr>
        <p:spPr>
          <a:xfrm>
            <a:off x="6207200" y="1590000"/>
            <a:ext cx="23296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2.40 GHz (WLAN band)</a:t>
            </a:r>
          </a:p>
        </p:txBody>
      </p:sp>
      <p:sp>
        <p:nvSpPr>
          <p:cNvPr id="414" name="K410_1"/>
          <p:cNvSpPr/>
          <p:nvPr/>
        </p:nvSpPr>
        <p:spPr>
          <a:xfrm>
            <a:off x="4057200" y="1892000"/>
            <a:ext cx="21000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Patch Width (W):</a:t>
            </a:r>
          </a:p>
        </p:txBody>
      </p:sp>
      <p:sp>
        <p:nvSpPr>
          <p:cNvPr id="415" name="V410_1"/>
          <p:cNvSpPr/>
          <p:nvPr/>
        </p:nvSpPr>
        <p:spPr>
          <a:xfrm>
            <a:off x="6207200" y="1892000"/>
            <a:ext cx="23296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38 mm</a:t>
            </a:r>
          </a:p>
        </p:txBody>
      </p:sp>
      <p:sp>
        <p:nvSpPr>
          <p:cNvPr id="416" name="K410_2"/>
          <p:cNvSpPr/>
          <p:nvPr/>
        </p:nvSpPr>
        <p:spPr>
          <a:xfrm>
            <a:off x="4057200" y="2194000"/>
            <a:ext cx="21000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Patch Length (L):</a:t>
            </a:r>
          </a:p>
        </p:txBody>
      </p:sp>
      <p:sp>
        <p:nvSpPr>
          <p:cNvPr id="417" name="V410_2"/>
          <p:cNvSpPr/>
          <p:nvPr/>
        </p:nvSpPr>
        <p:spPr>
          <a:xfrm>
            <a:off x="6207200" y="2194000"/>
            <a:ext cx="23296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29 mm</a:t>
            </a:r>
          </a:p>
        </p:txBody>
      </p:sp>
      <p:sp>
        <p:nvSpPr>
          <p:cNvPr id="418" name="K410_3"/>
          <p:cNvSpPr/>
          <p:nvPr/>
        </p:nvSpPr>
        <p:spPr>
          <a:xfrm>
            <a:off x="4057200" y="2496000"/>
            <a:ext cx="21000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Substrate Thickness (h):</a:t>
            </a:r>
          </a:p>
        </p:txBody>
      </p:sp>
      <p:sp>
        <p:nvSpPr>
          <p:cNvPr id="419" name="V410_3"/>
          <p:cNvSpPr/>
          <p:nvPr/>
        </p:nvSpPr>
        <p:spPr>
          <a:xfrm>
            <a:off x="6207200" y="2496000"/>
            <a:ext cx="23296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1.6 mm</a:t>
            </a:r>
          </a:p>
        </p:txBody>
      </p:sp>
      <p:sp>
        <p:nvSpPr>
          <p:cNvPr id="420" name="K410_4"/>
          <p:cNvSpPr/>
          <p:nvPr/>
        </p:nvSpPr>
        <p:spPr>
          <a:xfrm>
            <a:off x="4057200" y="2798000"/>
            <a:ext cx="21000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Ground Plane:</a:t>
            </a:r>
          </a:p>
        </p:txBody>
      </p:sp>
      <p:sp>
        <p:nvSpPr>
          <p:cNvPr id="421" name="V410_4"/>
          <p:cNvSpPr/>
          <p:nvPr/>
        </p:nvSpPr>
        <p:spPr>
          <a:xfrm>
            <a:off x="6207200" y="2798000"/>
            <a:ext cx="2329600" cy="3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60 × 60 mm</a:t>
            </a:r>
          </a:p>
        </p:txBody>
      </p:sp>
      <p:sp>
        <p:nvSpPr>
          <p:cNvPr id="430" name="TCard430"/>
          <p:cNvSpPr/>
          <p:nvPr/>
        </p:nvSpPr>
        <p:spPr>
          <a:xfrm>
            <a:off x="3907200" y="3310000"/>
            <a:ext cx="4779600" cy="159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1" name="TTitle430"/>
          <p:cNvSpPr/>
          <p:nvPr/>
        </p:nvSpPr>
        <p:spPr>
          <a:xfrm>
            <a:off x="4057200" y="3400000"/>
            <a:ext cx="447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</a:rPr>
              <a:t>Materials &amp; Fabrication</a:t>
            </a:r>
          </a:p>
        </p:txBody>
      </p:sp>
      <p:sp>
        <p:nvSpPr>
          <p:cNvPr id="432" name="K430_0"/>
          <p:cNvSpPr/>
          <p:nvPr/>
        </p:nvSpPr>
        <p:spPr>
          <a:xfrm>
            <a:off x="4057200" y="3720000"/>
            <a:ext cx="21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Conductor:</a:t>
            </a:r>
          </a:p>
        </p:txBody>
      </p:sp>
      <p:sp>
        <p:nvSpPr>
          <p:cNvPr id="433" name="V430_0"/>
          <p:cNvSpPr/>
          <p:nvPr/>
        </p:nvSpPr>
        <p:spPr>
          <a:xfrm>
            <a:off x="6207200" y="3720000"/>
            <a:ext cx="23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Copper foil, ~0.05 mm</a:t>
            </a:r>
          </a:p>
        </p:txBody>
      </p:sp>
      <p:sp>
        <p:nvSpPr>
          <p:cNvPr id="434" name="K430_1"/>
          <p:cNvSpPr/>
          <p:nvPr/>
        </p:nvSpPr>
        <p:spPr>
          <a:xfrm>
            <a:off x="4057200" y="4000000"/>
            <a:ext cx="21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Substrate:</a:t>
            </a:r>
          </a:p>
        </p:txBody>
      </p:sp>
      <p:sp>
        <p:nvSpPr>
          <p:cNvPr id="435" name="V430_1"/>
          <p:cNvSpPr/>
          <p:nvPr/>
        </p:nvSpPr>
        <p:spPr>
          <a:xfrm>
            <a:off x="6207200" y="4000000"/>
            <a:ext cx="23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FR4 (εr ≈ 4.4)</a:t>
            </a:r>
          </a:p>
        </p:txBody>
      </p:sp>
      <p:sp>
        <p:nvSpPr>
          <p:cNvPr id="436" name="K430_2"/>
          <p:cNvSpPr/>
          <p:nvPr/>
        </p:nvSpPr>
        <p:spPr>
          <a:xfrm>
            <a:off x="4057200" y="4280000"/>
            <a:ext cx="21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Feed / Connector:</a:t>
            </a:r>
          </a:p>
        </p:txBody>
      </p:sp>
      <p:sp>
        <p:nvSpPr>
          <p:cNvPr id="437" name="V430_2"/>
          <p:cNvSpPr/>
          <p:nvPr/>
        </p:nvSpPr>
        <p:spPr>
          <a:xfrm>
            <a:off x="6207200" y="4280000"/>
            <a:ext cx="23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SMA, 50 Ω matched</a:t>
            </a:r>
          </a:p>
        </p:txBody>
      </p:sp>
      <p:sp>
        <p:nvSpPr>
          <p:cNvPr id="438" name="K430_3"/>
          <p:cNvSpPr/>
          <p:nvPr/>
        </p:nvSpPr>
        <p:spPr>
          <a:xfrm>
            <a:off x="4057200" y="4560000"/>
            <a:ext cx="21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</a:rPr>
              <a:t>Fabrication:</a:t>
            </a:r>
          </a:p>
        </p:txBody>
      </p:sp>
      <p:sp>
        <p:nvSpPr>
          <p:cNvPr id="439" name="V430_3"/>
          <p:cNvSpPr/>
          <p:nvPr/>
        </p:nvSpPr>
        <p:spPr>
          <a:xfrm>
            <a:off x="6207200" y="4560000"/>
            <a:ext cx="23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</a:rPr>
              <a:t>Manual patch-and-ground lamination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— Full Source (1/3)</a:t>
            </a:r>
            <a:endParaRPr lang="en-US" sz="3200" dirty="0"/>
          </a:p>
        </p:txBody>
      </p:sp>
      <p:sp>
        <p:nvSpPr>
          <p:cNvPr id="500" name="CodeCard0"/>
          <p:cNvSpPr/>
          <p:nvPr/>
        </p:nvSpPr>
        <p:spPr>
          <a:xfrm>
            <a:off x="457200" y="1180000"/>
            <a:ext cx="4039800" cy="372000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01" name="CodeLabel0"/>
          <p:cNvSpPr/>
          <p:nvPr/>
        </p:nvSpPr>
        <p:spPr>
          <a:xfrm>
            <a:off x="597200" y="1230000"/>
            <a:ext cx="37598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</a:rPr>
              <a:t>// Includes, globals &amp; pin setup</a:t>
            </a:r>
          </a:p>
        </p:txBody>
      </p:sp>
      <p:sp>
        <p:nvSpPr>
          <p:cNvPr id="502" name="CodeBody0"/>
          <p:cNvSpPr/>
          <p:nvPr/>
        </p:nvSpPr>
        <p:spPr>
          <a:xfrm>
            <a:off x="597200" y="1500000"/>
            <a:ext cx="37598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#include &lt;BluetoothSerial.h&gt;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#include &lt;SPI.h&gt;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#include &lt;RF24.h&gt;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#include &lt;Wire.h&gt;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#include &lt;Adafruit_GFX.h&gt;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#include &lt;Adafruit_SSD1306.h&gt;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// OLED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Adafruit_SSD1306 display(128, 64, &amp;Wire, -1);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// Bluetooth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BluetoothSerial SerialBT;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// NRF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RF24 radio(4, 5);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const byte address[6] = "00001";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// Relays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#define RELAY1 25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#define RELAY2 26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// Modes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String mode = "right";  // default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void setup()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Serial.begin(115200);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SerialBT.begin("Smart_Antenna");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pinMode(RELAY1, OUTPUT);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pinMode(RELAY2, OUTPUT);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digitalWrite(RELAY1, LOW);</a:t>
            </a:r>
          </a:p>
        </p:txBody>
      </p:sp>
      <p:sp>
        <p:nvSpPr>
          <p:cNvPr id="600" name="CodeCard1"/>
          <p:cNvSpPr/>
          <p:nvPr/>
        </p:nvSpPr>
        <p:spPr>
          <a:xfrm>
            <a:off x="4647000" y="1180000"/>
            <a:ext cx="4039800" cy="372000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01" name="CodeLabel1"/>
          <p:cNvSpPr/>
          <p:nvPr/>
        </p:nvSpPr>
        <p:spPr>
          <a:xfrm>
            <a:off x="4787000" y="1230000"/>
            <a:ext cx="37598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</a:rPr>
              <a:t>// NRF/OLED init &amp; startup screen</a:t>
            </a:r>
          </a:p>
        </p:txBody>
      </p:sp>
      <p:sp>
        <p:nvSpPr>
          <p:cNvPr id="602" name="CodeBody1"/>
          <p:cNvSpPr/>
          <p:nvPr/>
        </p:nvSpPr>
        <p:spPr>
          <a:xfrm>
            <a:off x="4787000" y="1500000"/>
            <a:ext cx="37598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digitalWrite(RELAY2, LOW);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// NRF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radio.begin();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radio.openWritingPipe(address);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radio.setPALevel(RF24_PA_HIGH);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radio.stopListening();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// OLED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if(!display.begin(SSD1306_SWITCHCAPVCC, 0x3C))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Serial.println("OLED init failed");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display.clearDisplay();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display.setTextColor(WHITE);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// Startup Screen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display.setTextSize(1);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display.setCursor(0,20);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display.println("Electronic Switch");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display.setCursor(0,35);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display.println("Based Antenna");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display.display();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Serial.println("System Starting...");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delay(5000);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display.clearDisplay();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display.display();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— Full Source (2/3)</a:t>
            </a:r>
            <a:endParaRPr lang="en-US" sz="3200" dirty="0"/>
          </a:p>
        </p:txBody>
      </p:sp>
      <p:sp>
        <p:nvSpPr>
          <p:cNvPr id="500" name="CodeCard0"/>
          <p:cNvSpPr/>
          <p:nvPr/>
        </p:nvSpPr>
        <p:spPr>
          <a:xfrm>
            <a:off x="457200" y="1180000"/>
            <a:ext cx="4039800" cy="372000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01" name="CodeLabel0"/>
          <p:cNvSpPr/>
          <p:nvPr/>
        </p:nvSpPr>
        <p:spPr>
          <a:xfrm>
            <a:off x="597200" y="1230000"/>
            <a:ext cx="37598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</a:rPr>
              <a:t>// loop() — read Bluetooth command</a:t>
            </a:r>
          </a:p>
        </p:txBody>
      </p:sp>
      <p:sp>
        <p:nvSpPr>
          <p:cNvPr id="502" name="CodeBody0"/>
          <p:cNvSpPr/>
          <p:nvPr/>
        </p:nvSpPr>
        <p:spPr>
          <a:xfrm>
            <a:off x="597200" y="1500000"/>
            <a:ext cx="37598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void loop()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// Read Bluetooth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if (SerialBT.available())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String cmd = SerialBT.readString();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cmd.trim();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cmd.toLowerCase();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Serial.print("Command: 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Serial.println(cmd);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if (cmd == "left")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mode = "left";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showDisplay("LEFT");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Serial.println("Mode: LEFT");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else if (cmd == "right")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mode = "right";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showDisplay("RIGHT");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Serial.println("Mode: RIGHT");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else if (cmd == "center" || cmd == "centre")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mode = "center";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showDisplay("CENTER");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Serial.println("Mode: CENTER");</a:t>
            </a:r>
          </a:p>
        </p:txBody>
      </p:sp>
      <p:sp>
        <p:nvSpPr>
          <p:cNvPr id="600" name="CodeCard1"/>
          <p:cNvSpPr/>
          <p:nvPr/>
        </p:nvSpPr>
        <p:spPr>
          <a:xfrm>
            <a:off x="4647000" y="1180000"/>
            <a:ext cx="4039800" cy="372000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01" name="CodeLabel1"/>
          <p:cNvSpPr/>
          <p:nvPr/>
        </p:nvSpPr>
        <p:spPr>
          <a:xfrm>
            <a:off x="4787000" y="1230000"/>
            <a:ext cx="37598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</a:rPr>
              <a:t>// loop() — drive relay &amp; transmit</a:t>
            </a:r>
          </a:p>
        </p:txBody>
      </p:sp>
      <p:sp>
        <p:nvSpPr>
          <p:cNvPr id="602" name="CodeBody1"/>
          <p:cNvSpPr/>
          <p:nvPr/>
        </p:nvSpPr>
        <p:spPr>
          <a:xfrm>
            <a:off x="4787000" y="1500000"/>
            <a:ext cx="37598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else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  Serial.println("Invalid Command");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// MODE EXECUTION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if (mode == "left")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digitalWrite(RELAY1, HIGH);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digitalWrite(RELAY2, LOW);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sendRF("LEFT");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else if (mode == "right")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digitalWrite(RELAY1, LOW);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digitalWrite(RELAY2, HIGH);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sendRF("RIGHT");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else if (mode == "center")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digitalWrite(RELAY1, HIGH);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digitalWrite(RELAY2, HIGH);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  sendRF("CENTER");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  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— Full Source (3/3)</a:t>
            </a:r>
            <a:endParaRPr lang="en-US" sz="3200" dirty="0"/>
          </a:p>
        </p:txBody>
      </p:sp>
      <p:sp>
        <p:nvSpPr>
          <p:cNvPr id="600" name="CodeCard"/>
          <p:cNvSpPr/>
          <p:nvPr/>
        </p:nvSpPr>
        <p:spPr>
          <a:xfrm>
            <a:off x="457200" y="1180000"/>
            <a:ext cx="4039800" cy="372000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01" name="CodeLabel"/>
          <p:cNvSpPr/>
          <p:nvPr/>
        </p:nvSpPr>
        <p:spPr>
          <a:xfrm>
            <a:off x="597200" y="1230000"/>
            <a:ext cx="37598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</a:rPr>
              <a:t>// Display + RF helper functions</a:t>
            </a:r>
          </a:p>
        </p:txBody>
      </p:sp>
      <p:sp>
        <p:nvSpPr>
          <p:cNvPr id="602" name="CodeBody"/>
          <p:cNvSpPr/>
          <p:nvPr/>
        </p:nvSpPr>
        <p:spPr>
          <a:xfrm>
            <a:off x="597200" y="1500000"/>
            <a:ext cx="37598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// OLED DISPLAY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void showDisplay(String text)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display.clearDisplay();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display.setTextSize(1);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display.setCursor(0,0);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display.println("Smart Antenna");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display.setTextSize(2);  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display.setCursor(10,25);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display.println(text);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display.display();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// NRF SEND FUNCTION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void sendRF(const char* msg) {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  radio.write(msg, strlen(msg) + 1);</a:t>
            </a:r>
          </a:p>
          <a:p>
            <a:pPr indent="0" marL="0">
              <a:buNone/>
              <a:lnSpc>
                <a:spcPct val="112000"/>
              </a:lnSpc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</a:rPr>
              <a:t xml:space="preserve">}</a:t>
            </a:r>
          </a:p>
        </p:txBody>
      </p:sp>
      <p:sp>
        <p:nvSpPr>
          <p:cNvPr id="610" name="AlgoCard"/>
          <p:cNvSpPr/>
          <p:nvPr/>
        </p:nvSpPr>
        <p:spPr>
          <a:xfrm>
            <a:off x="4647000" y="1180000"/>
            <a:ext cx="4039800" cy="37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11" name="AlgoTitle"/>
          <p:cNvSpPr/>
          <p:nvPr/>
        </p:nvSpPr>
        <p:spPr>
          <a:xfrm>
            <a:off x="4797000" y="1270000"/>
            <a:ext cx="37398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</a:rPr>
              <a:t>Control Algorithm</a:t>
            </a:r>
          </a:p>
        </p:txBody>
      </p:sp>
      <p:sp>
        <p:nvSpPr>
          <p:cNvPr id="612" name="AlgoBody"/>
          <p:cNvSpPr/>
          <p:nvPr/>
        </p:nvSpPr>
        <p:spPr>
          <a:xfrm>
            <a:off x="4797000" y="1600000"/>
            <a:ext cx="3739800" cy="3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1. Initialize ESP32, Bluetooth, NRF24L01 (SPI) and OLED.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2. Set default mode = RIGHT (Antenna 2 active); show startup screen.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3. Continuously poll for an incoming Bluetooth command.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4. Parse command: "left" / "right" / "center" (or "centre").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5. LEFT → Relay ON, Antenna 1 active.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6. RIGHT → Relay OFF, Antenna 2 active.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7. CENTER → relay toggled to alternate both antennas.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8. Update OLED with the active mode for instant feedback.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9. Transmit an RF signal through the NRF24L01 on the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    selected antenna path.</a:t>
            </a:r>
          </a:p>
          <a:p>
            <a:pPr indent="0" marL="0">
              <a:buNone/>
              <a:lnSpc>
                <a:spcPct val="118000"/>
              </a:lnSpc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</a:rPr>
              <a:t xml:space="preserve">10. Repeat indefinitely; stops only when powered 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Controlled Pattern Reconfigurable WLAN Antenna</dc:title>
  <dc:subject>PptxGenJS Presentation</dc:subject>
  <dc:creator>Team Antenna</dc:creator>
  <cp:lastModifiedBy>Team Antenna</cp:lastModifiedBy>
  <cp:revision>1</cp:revision>
  <dcterms:created xsi:type="dcterms:W3CDTF">2026-07-02T04:33:21Z</dcterms:created>
  <dcterms:modified xsi:type="dcterms:W3CDTF">2026-07-02T04:33:21Z</dcterms:modified>
</cp:coreProperties>
</file>